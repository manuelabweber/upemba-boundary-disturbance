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11" autoAdjust="0"/>
    <p:restoredTop sz="94660"/>
  </p:normalViewPr>
  <p:slideViewPr>
    <p:cSldViewPr snapToGrid="0">
      <p:cViewPr>
        <p:scale>
          <a:sx n="125" d="100"/>
          <a:sy n="125" d="100"/>
        </p:scale>
        <p:origin x="72" y="-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E6D8-7562-31ED-BF21-2D7505E3A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3BD48-01BE-AD3D-3DD3-64390C171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FF778-0C1B-26E1-31FD-EDAA7FBE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191F4-9D33-3362-FF59-E59822FF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0FE3E-67CF-B35E-62E7-EE2C8F01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747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6EF5-B5D1-8770-5D6B-F633BC2F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C11A-4567-5441-433A-D7556092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D07CB-24B9-DB4D-00A3-10DF9A57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E6927-2FD7-6A27-431C-5F2B6181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C6E87-8561-EA20-7169-49E208A8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747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BC6E-46AE-1CE2-9052-E2822C6D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29C4-BE3C-6952-CC3C-976FC20B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4F816-73ED-9476-EFE4-B758668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703EE-960C-81C3-CD9B-30C2577A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35944-2559-54F0-8ABA-7EDE35FF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4473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8874-8781-DB2F-E5CB-9C980D75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55F80-44DC-F0B7-B99C-B6488BCE8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82007-F8B3-26FC-839D-EDAD19760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78BC1-15B3-86E2-5909-30CB81F9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2A6D3-A2A6-C42B-F061-EE5D3680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A0F11-C0A4-3573-4047-496C4F0E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940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A552-11A4-7870-8AF8-30D60C31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6A5F8-048B-E4B2-EEB9-89E36B39C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5974C-19E8-33C5-A12D-1F0D1109F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C21605-6E0A-3EED-0B4F-6C5D9BCBB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BC4D0-8833-36A1-87BA-E68C10938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C81D4-90D2-A06A-C452-1D6205E5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2DFB1-8FB2-1B58-5A2D-999B7550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BB8B3-4ABE-F1E4-2DBF-4F38FFA0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863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8C6D-1EB6-7137-38EB-26329BD09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180C3-D655-3EB5-6AFF-F7988C7A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344A4-57DC-09B3-D44D-89DA11EB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782ED-B586-1562-CDC7-05306ED3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728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41DEF-0F51-9A54-2E61-27A87D02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026C2-CFAC-2EDC-7100-8C0940375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A2B48-070E-D696-A5CB-415D8364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160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91CB-278D-CFA9-1268-A334D234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46F6-C0B3-FBED-02E5-7EFCBEACC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BF69A-7FA9-24D4-E169-85A933ED5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D6837-5E51-BD34-D204-3FFEC3A2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32EE5-9DD1-F137-0FCB-68838B4A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23CA3-A3AB-5C7C-D07E-D52FE577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498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049D-8C74-F248-AD1B-0FA62EC2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708A80-5816-B2A1-E8FB-ABACAA392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42D77-B9A6-804D-2BAD-BB62EC99D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706E7-0EA4-3216-3863-548F88A8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5D5D0-6D2A-4109-6CF9-EB19DAD5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46251-BEFB-88C8-F03B-F8911B0A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113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59E25-DC21-3E0E-3FA9-35D2F1C3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0616B-2350-0357-8059-117DD5EC6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F8430-6561-1558-5E23-D0A044CC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1619D-DF8F-1D00-2147-204144B6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50730-4BC8-5702-5648-6D46F815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5796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DA8F8F-FEA3-E84F-1C68-3C60B0152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A0D13-57FB-6CD2-B0A8-18163CCD2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68A49-6CC0-67A8-4220-2CEB9DEB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028F1-C93B-E64C-F4E5-8201E44F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5A80-1DFF-528E-8447-F495A8FA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318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0F80A-4530-EDAC-165B-1D56C72D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46484-E214-7AD9-FCF5-7FC7612E3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B439A-D739-D21E-048E-F46CCF06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E47AA-BFA2-4964-A603-3EC927EB72A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03B99-7767-B380-D461-2FF13F6CA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91E87-6BE0-2246-764D-53EDC3220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36791-5C7F-4553-833C-F765BDD3D7C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8286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AC1983-A88E-D3D8-B26D-CB8EEFD8E8AA}"/>
              </a:ext>
            </a:extLst>
          </p:cNvPr>
          <p:cNvSpPr/>
          <p:nvPr/>
        </p:nvSpPr>
        <p:spPr>
          <a:xfrm>
            <a:off x="3163064" y="736033"/>
            <a:ext cx="2932493" cy="4547166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8300E-6EDA-3970-C821-5DD0B238E0A1}"/>
              </a:ext>
            </a:extLst>
          </p:cNvPr>
          <p:cNvSpPr/>
          <p:nvPr/>
        </p:nvSpPr>
        <p:spPr>
          <a:xfrm>
            <a:off x="6222447" y="736033"/>
            <a:ext cx="2936230" cy="4547166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CBCF4-8E35-5C7B-F122-AD051C1B2245}"/>
              </a:ext>
            </a:extLst>
          </p:cNvPr>
          <p:cNvSpPr/>
          <p:nvPr/>
        </p:nvSpPr>
        <p:spPr>
          <a:xfrm>
            <a:off x="94317" y="736033"/>
            <a:ext cx="2936230" cy="4547166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36B24-A796-71F1-2C46-326FFC0ABA88}"/>
              </a:ext>
            </a:extLst>
          </p:cNvPr>
          <p:cNvSpPr txBox="1"/>
          <p:nvPr/>
        </p:nvSpPr>
        <p:spPr>
          <a:xfrm>
            <a:off x="867585" y="736110"/>
            <a:ext cx="1389694" cy="369332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endParaRPr lang="en-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8CCE7-0845-79FA-5727-26D8D36F9A06}"/>
              </a:ext>
            </a:extLst>
          </p:cNvPr>
          <p:cNvSpPr txBox="1"/>
          <p:nvPr/>
        </p:nvSpPr>
        <p:spPr>
          <a:xfrm>
            <a:off x="3199075" y="736033"/>
            <a:ext cx="2860480" cy="369332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endParaRPr lang="en-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8C59F-79BC-F333-E5C8-0179FC8770D1}"/>
              </a:ext>
            </a:extLst>
          </p:cNvPr>
          <p:cNvSpPr txBox="1"/>
          <p:nvPr/>
        </p:nvSpPr>
        <p:spPr>
          <a:xfrm>
            <a:off x="6318961" y="736033"/>
            <a:ext cx="2743200" cy="369332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en-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B669C5-7BE0-01C7-58C5-10667D6060ED}"/>
              </a:ext>
            </a:extLst>
          </p:cNvPr>
          <p:cNvSpPr txBox="1"/>
          <p:nvPr/>
        </p:nvSpPr>
        <p:spPr>
          <a:xfrm>
            <a:off x="190832" y="2844147"/>
            <a:ext cx="2743200" cy="954107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Disturbance indicators (2001-2022)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Deforestation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expansion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7B18E-C197-C70D-56D8-5DD1173362EF}"/>
              </a:ext>
            </a:extLst>
          </p:cNvPr>
          <p:cNvSpPr txBox="1"/>
          <p:nvPr/>
        </p:nvSpPr>
        <p:spPr>
          <a:xfrm>
            <a:off x="187078" y="1243863"/>
            <a:ext cx="2743200" cy="116955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Topography, hydrology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Climate, soils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cover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Accessibility, urban proximity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EA57E5-F68D-83F0-2DC7-6B90FE15511A}"/>
              </a:ext>
            </a:extLst>
          </p:cNvPr>
          <p:cNvSpPr txBox="1"/>
          <p:nvPr/>
        </p:nvSpPr>
        <p:spPr>
          <a:xfrm>
            <a:off x="187078" y="4336709"/>
            <a:ext cx="2743200" cy="738664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Boundary-model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park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profiles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1A6104-031B-5FB3-2A20-DAC942CBAF5F}"/>
              </a:ext>
            </a:extLst>
          </p:cNvPr>
          <p:cNvSpPr txBox="1"/>
          <p:nvPr/>
        </p:nvSpPr>
        <p:spPr>
          <a:xfrm>
            <a:off x="3257715" y="1243863"/>
            <a:ext cx="2743200" cy="116955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SESU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m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de-speckling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78792B-12B3-0391-D4F0-FBD857790AE2}"/>
              </a:ext>
            </a:extLst>
          </p:cNvPr>
          <p:cNvSpPr txBox="1"/>
          <p:nvPr/>
        </p:nvSpPr>
        <p:spPr>
          <a:xfrm>
            <a:off x="3257717" y="2736426"/>
            <a:ext cx="2743200" cy="116955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Disturbance-event 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Fire: annual dry-season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Deforestation/agriculture: first transition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 disturbed cell threshold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533535-19C9-A1C6-B08A-F236A575EC6C}"/>
              </a:ext>
            </a:extLst>
          </p:cNvPr>
          <p:cNvSpPr txBox="1"/>
          <p:nvPr/>
        </p:nvSpPr>
        <p:spPr>
          <a:xfrm>
            <a:off x="3253961" y="4228987"/>
            <a:ext cx="2743200" cy="954107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SESU × year × side 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SESU × year × side counts for each disturbance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profiles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383B90-23E6-4625-F3E7-44165C553462}"/>
              </a:ext>
            </a:extLst>
          </p:cNvPr>
          <p:cNvSpPr txBox="1"/>
          <p:nvPr/>
        </p:nvSpPr>
        <p:spPr>
          <a:xfrm>
            <a:off x="6318961" y="4234854"/>
            <a:ext cx="2743200" cy="954107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Diagnostics and uncertainty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Inside-outside time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Random-side placebo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Year-block bootstrap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BE34DD-E4CD-8EEC-6E9D-74BA8CA97B61}"/>
              </a:ext>
            </a:extLst>
          </p:cNvPr>
          <p:cNvSpPr txBox="1"/>
          <p:nvPr/>
        </p:nvSpPr>
        <p:spPr>
          <a:xfrm>
            <a:off x="6315207" y="1243862"/>
            <a:ext cx="2743200" cy="116955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Boundary-permeability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Beta-binomial event risk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SESU × year fixed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governance profile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367A2F-A479-7515-85E0-253F7117B8B7}"/>
                  </a:ext>
                </a:extLst>
              </p:cNvPr>
              <p:cNvSpPr txBox="1"/>
              <p:nvPr/>
            </p:nvSpPr>
            <p:spPr>
              <a:xfrm>
                <a:off x="6315206" y="2974487"/>
                <a:ext cx="2743201" cy="591572"/>
              </a:xfrm>
              <a:prstGeom prst="rect">
                <a:avLst/>
              </a:prstGeom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L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𝑠𝑡𝑘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𝐵𝑒𝑡𝑎𝐵𝑖𝑛𝑜𝑚𝑖𝑎𝑙</m:t>
                      </m:r>
                      <m:d>
                        <m:dPr>
                          <m:ctrlPr>
                            <a:rPr lang="en-NL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L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𝑠𝑡𝑘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NL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𝑠𝑡𝑘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NL" dirty="0"/>
              </a:p>
              <a:p>
                <a:pPr>
                  <a:buNone/>
                </a:pPr>
                <a:endParaRPr lang="en-US" sz="1000" b="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L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𝑠𝑡𝑘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𝑠𝑡𝑘</m:t>
                          </m:r>
                        </m:sub>
                      </m:sSub>
                      <m:r>
                        <a:rPr lang="fr-FR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NL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𝑠𝑡𝑘</m:t>
                          </m:r>
                        </m:sub>
                      </m:sSub>
                    </m:oMath>
                  </m:oMathPara>
                </a14:m>
                <a:endPara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367A2F-A479-7515-85E0-253F7117B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206" y="2974487"/>
                <a:ext cx="2743201" cy="5915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175"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ADFBD35-CC02-4F33-B328-F18E5856F42E}"/>
              </a:ext>
            </a:extLst>
          </p:cNvPr>
          <p:cNvCxnSpPr>
            <a:cxnSpLocks/>
            <a:stCxn id="13" idx="3"/>
            <a:endCxn id="23" idx="1"/>
          </p:cNvCxnSpPr>
          <p:nvPr/>
        </p:nvCxnSpPr>
        <p:spPr>
          <a:xfrm>
            <a:off x="2934032" y="3321201"/>
            <a:ext cx="323685" cy="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27CD59-E88D-FB1A-D392-CB359AD23E87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>
            <a:off x="2930278" y="1828639"/>
            <a:ext cx="32743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B67F8BE-5DDA-9459-1C49-4B980C998E59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>
            <a:off x="7686807" y="2413413"/>
            <a:ext cx="0" cy="56107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9BCFCFA-66AB-007A-BF6B-F49FC98E03E9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2930278" y="4706041"/>
            <a:ext cx="323683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882CCCA-2FBB-4E2A-F190-D74FA489C974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>
            <a:off x="7686807" y="3566059"/>
            <a:ext cx="3754" cy="66879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26C44582-A606-6976-7883-C1B461EB1E99}"/>
              </a:ext>
            </a:extLst>
          </p:cNvPr>
          <p:cNvSpPr txBox="1"/>
          <p:nvPr/>
        </p:nvSpPr>
        <p:spPr>
          <a:xfrm>
            <a:off x="205518" y="5275427"/>
            <a:ext cx="8856643" cy="276999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SESU (socio-ecological system unit); t = year; k = park boundary side; y = disturbed pixel; n = pixels at risk; p = disturbance probability.</a:t>
            </a:r>
            <a:endParaRPr lang="en-NL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400D776-BECF-ABE6-4887-3C5BF8A7978B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4629315" y="2413414"/>
            <a:ext cx="2" cy="32301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B1A04523-B70E-C5BE-77F6-223A9D9548B6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flipH="1">
            <a:off x="4625561" y="3905977"/>
            <a:ext cx="3756" cy="32301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FCC4590-6B9F-8594-A5DD-06410028B1AE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 flipV="1">
            <a:off x="5997161" y="1828638"/>
            <a:ext cx="318046" cy="2877403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9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1139" y="667539"/>
            <a:ext cx="1785769" cy="23807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sz="1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5571" y="677732"/>
            <a:ext cx="1468419" cy="23807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sz="1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8941" y="99067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01671" y="107124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78941" y="122905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01671" y="130962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78941" y="146743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1671" y="154800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78941" y="170581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01671" y="1786380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78941" y="194419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01671" y="2024760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78941" y="218257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1671" y="226313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78941" y="2420955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01671" y="250151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78941" y="2659335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01671" y="273989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78941" y="289771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01671" y="297827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78941" y="313609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01671" y="321665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78941" y="337447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01671" y="345503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78941" y="361285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01671" y="369341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941" y="385123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01671" y="393179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078941" y="408961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01671" y="417017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78941" y="432799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01671" y="440855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78941" y="456637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401671" y="464693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78941" y="480475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401671" y="488531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78941" y="504313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401671" y="512369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78941" y="528151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401671" y="536207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78941" y="551989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401671" y="560045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78941" y="575827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401671" y="583883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078941" y="599665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401671" y="607721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868978" y="99067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91708" y="107124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68978" y="122905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91708" y="130962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868978" y="1467437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91708" y="1548001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868978" y="170581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91708" y="1786380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68978" y="194419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91708" y="2024760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868978" y="2182576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2006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91708" y="226313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868978" y="2420955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2007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191708" y="250151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68978" y="2659335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2008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91708" y="2739899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868978" y="289771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2009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191708" y="297827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868978" y="313609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2010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191708" y="321665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868978" y="3374474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191708" y="3455038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868978" y="361285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191708" y="369341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68978" y="385123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191708" y="393179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868978" y="4089613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191708" y="4170177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868978" y="432799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191708" y="440855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868978" y="456637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191708" y="464693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868978" y="480475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191708" y="488531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868978" y="504313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191708" y="512369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5868978" y="5281512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191708" y="5362076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868978" y="551989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191708" y="560045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868978" y="575827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191708" y="583883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868978" y="5996651"/>
            <a:ext cx="338866" cy="161130"/>
          </a:xfrm>
          <a:prstGeom prst="rect">
            <a:avLst/>
          </a:prstGeom>
          <a:noFill/>
        </p:spPr>
        <p:txBody>
          <a:bodyPr wrap="square" lIns="22412" tIns="11206" rIns="22412" bIns="11206" anchor="ctr">
            <a:spAutoFit/>
          </a:bodyPr>
          <a:lstStyle/>
          <a:p>
            <a:pPr algn="r"/>
            <a:r>
              <a:rPr sz="9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191708" y="6077215"/>
            <a:ext cx="64546" cy="0"/>
          </a:xfrm>
          <a:prstGeom prst="line">
            <a:avLst/>
          </a:prstGeom>
          <a:ln w="1016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466217" y="952052"/>
            <a:ext cx="1307054" cy="715138"/>
          </a:xfrm>
          <a:prstGeom prst="rect">
            <a:avLst/>
          </a:prstGeom>
          <a:solidFill>
            <a:srgbClr val="D7D7D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66217" y="1664208"/>
            <a:ext cx="1307054" cy="718120"/>
          </a:xfrm>
          <a:prstGeom prst="rect">
            <a:avLst/>
          </a:prstGeom>
          <a:solidFill>
            <a:srgbClr val="B9A16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466217" y="2382328"/>
            <a:ext cx="1307054" cy="1435287"/>
          </a:xfrm>
          <a:prstGeom prst="rect">
            <a:avLst/>
          </a:prstGeom>
          <a:solidFill>
            <a:srgbClr val="D7D7D7"/>
          </a:solidFill>
          <a:ln w="12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466217" y="3815722"/>
            <a:ext cx="1307054" cy="950404"/>
          </a:xfrm>
          <a:prstGeom prst="rect">
            <a:avLst/>
          </a:prstGeom>
          <a:solidFill>
            <a:srgbClr val="B9A16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4466217" y="4766127"/>
            <a:ext cx="1307054" cy="1430277"/>
          </a:xfrm>
          <a:prstGeom prst="rect">
            <a:avLst/>
          </a:prstGeom>
          <a:solidFill>
            <a:srgbClr val="6F86A6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466217" y="952052"/>
            <a:ext cx="1307054" cy="5244353"/>
          </a:xfrm>
          <a:prstGeom prst="rect">
            <a:avLst/>
          </a:prstGeom>
          <a:noFill/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6256254" y="952052"/>
            <a:ext cx="1307054" cy="715138"/>
          </a:xfrm>
          <a:prstGeom prst="rect">
            <a:avLst/>
          </a:prstGeom>
          <a:solidFill>
            <a:srgbClr val="D7D7D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256254" y="1667190"/>
            <a:ext cx="1307054" cy="715138"/>
          </a:xfrm>
          <a:prstGeom prst="rect">
            <a:avLst/>
          </a:prstGeom>
          <a:solidFill>
            <a:srgbClr val="B9A16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256254" y="2382329"/>
            <a:ext cx="1307054" cy="943802"/>
          </a:xfrm>
          <a:prstGeom prst="rect">
            <a:avLst/>
          </a:prstGeom>
          <a:solidFill>
            <a:srgbClr val="D7D7D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256254" y="3320428"/>
            <a:ext cx="1307054" cy="502908"/>
          </a:xfrm>
          <a:prstGeom prst="rect">
            <a:avLst/>
          </a:prstGeom>
          <a:solidFill>
            <a:srgbClr val="6F86A6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6256254" y="3817620"/>
            <a:ext cx="1307054" cy="710127"/>
          </a:xfrm>
          <a:prstGeom prst="rect">
            <a:avLst/>
          </a:prstGeom>
          <a:solidFill>
            <a:srgbClr val="B9A16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6256254" y="4527747"/>
            <a:ext cx="1307054" cy="1668657"/>
          </a:xfrm>
          <a:prstGeom prst="rect">
            <a:avLst/>
          </a:prstGeom>
          <a:solidFill>
            <a:srgbClr val="6F86A6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256254" y="952052"/>
            <a:ext cx="1307054" cy="5244353"/>
          </a:xfrm>
          <a:prstGeom prst="rect">
            <a:avLst/>
          </a:prstGeom>
          <a:noFill/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600130" y="1278387"/>
            <a:ext cx="1532965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2004: Operational withdrawal from the Depression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00130" y="1558286"/>
            <a:ext cx="1532965" cy="63818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28 May 2004 attack on Lusinga precipitated withdrawal from the Kamalondo Depression and the collapse of routine park enforcement.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2600130" y="2495595"/>
            <a:ext cx="1532965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2007: </a:t>
            </a:r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Post-demobilization fragmented re-entry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2600130" y="2784119"/>
            <a:ext cx="1532965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Gédéon’s 2006 surrender was followed by partial conservation re-entry, negotiated access, and continuing residual armed presence.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00130" y="3675848"/>
            <a:ext cx="1532965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2013: Renewed armed insecurity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600130" y="3955746"/>
            <a:ext cx="1532965" cy="63818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Renewed militia activity constrained park access; systematic operational penetration of the Depression was not documented until late 2016–2017.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600130" y="4968619"/>
            <a:ext cx="1532965" cy="438129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2017: Expanded park operations reach the Depression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600130" y="5377907"/>
            <a:ext cx="1532965" cy="63818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Elephant-protection operations and the new management arrangement extended systematic patrol reach beyond the Plateau core into the Depression.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7714513" y="980261"/>
            <a:ext cx="1605579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2004: Lusinga attack and operational collapse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7714513" y="1260160"/>
            <a:ext cx="1605579" cy="63818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attack on Lusinga destroyed infrastructure, displaced staff and families, and precipitated the collapse of routine enforcement around the park headquarters.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7714514" y="2077003"/>
            <a:ext cx="1403608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2007: Fragmented conservation re-entry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7714513" y="2356901"/>
            <a:ext cx="1605579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armed presence coexisted with limited conservation activity, negotiated access, and weak institutional capacity.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7714513" y="3086808"/>
            <a:ext cx="1605579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2011: Plateau operational strengthening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7714513" y="3366706"/>
            <a:ext cx="1605579" cy="63818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FZS-supported technical assistance strengthened infrastructure, management capacity, and operational presence around Lusinga and the accessible Plateau core.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7714513" y="4195920"/>
            <a:ext cx="1605579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2013: Renewed armed insecurity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7714513" y="4475819"/>
            <a:ext cx="1605579" cy="515073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Renewed attacks, displacement, and abandonment of park positions contracted operational reach across the Plateau.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7714513" y="5214052"/>
            <a:ext cx="1605579" cy="2996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2016: Plateau transition to park-</a:t>
            </a:r>
            <a:r>
              <a:rPr lang="en-US" sz="900" b="1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7714513" y="5502576"/>
            <a:ext cx="1605579" cy="638184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l"/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Renewed systematic patrols, </a:t>
            </a:r>
            <a:r>
              <a:rPr lang="en-US" sz="8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lang="en-US" sz="8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strengthening, and Gédéon’s surrender preceded the formal public–private management partnership.</a:t>
            </a:r>
            <a:endParaRPr sz="8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4459870" y="1951890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Militia-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28923B-B779-CE72-E4E7-346A0C61449F}"/>
              </a:ext>
            </a:extLst>
          </p:cNvPr>
          <p:cNvSpPr txBox="1"/>
          <p:nvPr/>
        </p:nvSpPr>
        <p:spPr>
          <a:xfrm>
            <a:off x="6256254" y="1945658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Militia-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A9DF436-5F33-FECA-52EA-94924ACEE30F}"/>
              </a:ext>
            </a:extLst>
          </p:cNvPr>
          <p:cNvSpPr txBox="1"/>
          <p:nvPr/>
        </p:nvSpPr>
        <p:spPr>
          <a:xfrm>
            <a:off x="6256254" y="2786218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AE59414-0740-F6CB-63DE-CE5EFA583E25}"/>
              </a:ext>
            </a:extLst>
          </p:cNvPr>
          <p:cNvSpPr txBox="1"/>
          <p:nvPr/>
        </p:nvSpPr>
        <p:spPr>
          <a:xfrm>
            <a:off x="6291971" y="3477965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458BB7D-B486-4AB4-4E24-0133352F7DCA}"/>
              </a:ext>
            </a:extLst>
          </p:cNvPr>
          <p:cNvSpPr txBox="1"/>
          <p:nvPr/>
        </p:nvSpPr>
        <p:spPr>
          <a:xfrm>
            <a:off x="6250463" y="4097306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Militia-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8CFCFB4-6DF6-7555-E274-9436A597521D}"/>
              </a:ext>
            </a:extLst>
          </p:cNvPr>
          <p:cNvSpPr txBox="1"/>
          <p:nvPr/>
        </p:nvSpPr>
        <p:spPr>
          <a:xfrm>
            <a:off x="6250463" y="5237128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2FB8014-C506-893B-D7D6-4D3BC3D69C41}"/>
              </a:ext>
            </a:extLst>
          </p:cNvPr>
          <p:cNvSpPr txBox="1"/>
          <p:nvPr/>
        </p:nvSpPr>
        <p:spPr>
          <a:xfrm>
            <a:off x="6256254" y="1236751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1E2CB2A-72AE-F37C-6F76-8436E91323F2}"/>
              </a:ext>
            </a:extLst>
          </p:cNvPr>
          <p:cNvSpPr txBox="1"/>
          <p:nvPr/>
        </p:nvSpPr>
        <p:spPr>
          <a:xfrm>
            <a:off x="4484075" y="1236751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E63A593-4D96-7F35-36A0-EE2C644D3291}"/>
              </a:ext>
            </a:extLst>
          </p:cNvPr>
          <p:cNvSpPr txBox="1"/>
          <p:nvPr/>
        </p:nvSpPr>
        <p:spPr>
          <a:xfrm>
            <a:off x="4459870" y="2972009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48D91AA-5D67-674A-7001-D78FE408503C}"/>
              </a:ext>
            </a:extLst>
          </p:cNvPr>
          <p:cNvSpPr txBox="1"/>
          <p:nvPr/>
        </p:nvSpPr>
        <p:spPr>
          <a:xfrm>
            <a:off x="4466217" y="4240635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Militia-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273EABB-05F7-4C54-059E-626F78DE6DC4}"/>
              </a:ext>
            </a:extLst>
          </p:cNvPr>
          <p:cNvSpPr txBox="1"/>
          <p:nvPr/>
        </p:nvSpPr>
        <p:spPr>
          <a:xfrm>
            <a:off x="4433944" y="5371960"/>
            <a:ext cx="1318634" cy="161130"/>
          </a:xfrm>
          <a:prstGeom prst="rect">
            <a:avLst/>
          </a:prstGeom>
          <a:noFill/>
        </p:spPr>
        <p:txBody>
          <a:bodyPr wrap="square" lIns="22412" tIns="11206" rIns="22412" bIns="11206" anchor="t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Park-</a:t>
            </a:r>
            <a:r>
              <a:rPr lang="en-US" sz="9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sz="9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sz="9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454</Words>
  <Application>Microsoft Office PowerPoint</Application>
  <PresentationFormat>Widescreen</PresentationFormat>
  <Paragraphs>114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Weber, Manuel</dc:creator>
  <cp:lastModifiedBy>Weber, Manuel</cp:lastModifiedBy>
  <cp:revision>86</cp:revision>
  <dcterms:created xsi:type="dcterms:W3CDTF">2026-04-07T07:59:57Z</dcterms:created>
  <dcterms:modified xsi:type="dcterms:W3CDTF">2026-06-26T14:41:35Z</dcterms:modified>
</cp:coreProperties>
</file>